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81" r:id="rId3"/>
    <p:sldId id="286" r:id="rId4"/>
    <p:sldId id="282" r:id="rId5"/>
    <p:sldId id="287" r:id="rId6"/>
    <p:sldId id="276" r:id="rId7"/>
    <p:sldId id="280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D0380-BF97-274E-B3BE-AD724152CDAA}" v="7" dt="2026-05-02T09:46:01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40"/>
  </p:normalViewPr>
  <p:slideViewPr>
    <p:cSldViewPr snapToGrid="0">
      <p:cViewPr varScale="1">
        <p:scale>
          <a:sx n="93" d="100"/>
          <a:sy n="93" d="100"/>
        </p:scale>
        <p:origin x="24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ACEE2-5C5C-5A46-A133-C02B0961968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BDB5E-0356-4B4C-AE80-2D50DA077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D5B8F-0597-4388-817A-CCAB3B266E5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DB5E-0356-4B4C-AE80-2D50DA077D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0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EDBB-FC7B-A723-7452-4B9545549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B1C36-20A3-B33E-EB74-CD9435D7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6CCE1-1A8A-609C-594C-A23A0C08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4A08-88FC-4E34-C846-8519DFCA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5EE0B-16EF-58B7-513D-1E4A885A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D863-76B5-EE23-ECA5-10AE4E2D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0650-DF02-D6A0-3789-CED8971E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B438-54DD-B1D6-7555-03742542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CE1A7-7AE6-7443-1E6A-F599F464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8EA42-CB07-67E7-7558-2C773F98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3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7D9B-57AF-DC63-F8AB-40DEE2019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67929-73BF-4943-933A-12B89EEB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69BC-BB27-99BB-A510-329B6BC1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76A4C-71D2-BE0C-C3DA-0D1E38D3E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D5B0F-8DD3-119F-B0F6-B73150DD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3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4337-7A1E-6E3E-ABEB-FA9993D8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DD42D-FE8C-9AD6-93FF-AD151D864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2B4FA-59B8-A82F-2C2F-CD4416F9F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BED4F-83F0-3990-921F-3A1CF8FA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9703-ED90-D8EB-695C-72AF9D95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FD403-63A6-85FB-A15E-E4F62ABC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5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A39D-D3C4-B332-5071-E9A941F0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8432E-8853-98E4-63B3-13FA62DC1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1835D-BB07-ABEF-8AF7-C434564AD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5C6DF-A834-33C7-C422-296CC3AAA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70ADC-00F1-6840-E57C-F325DF372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0ACEF-18F5-A38F-C3F9-3590B12A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1D366-DE18-F814-4457-43C7A0C1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68740-A25F-BC0D-FBA6-B9A6BDE3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0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57DE-B1BA-2D63-82ED-D0045B34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3E9FB-9007-0145-19D0-871403E9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05025-37C5-2672-68AB-7EA1543F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7436C-DDB0-3CA8-4380-25D8E9DD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29792-5A79-6FC4-330B-44449A6E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8B7D1-7E04-3506-F786-3FEF9182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5790B-C643-7F82-030E-8D024A68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4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42F0-4F21-4C7E-36CE-9E69828C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AD355-4F3D-3B42-9CF7-B3864025E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8E66-83FA-1A8D-E18D-43F9550B4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7A336-DD74-AB37-12B1-79DA829A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8A9A5-DCB1-D224-11EB-DEAC9677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5E22F-341A-AB95-5C32-BD1B887B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2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DAF3-F75A-3C6E-0F40-3E1E8CC6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C68AD9-6EC7-AE39-4CBA-6A2592667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265BD-BE5C-EC5B-5FF2-6FC5EEF1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49875-83C0-526C-C20A-A0ED48C5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89D15-6B4D-7736-DFB1-D84BC44F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7463D-07B8-10E7-38EA-89F20D1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9124-98E7-9D6C-4B8B-BFC1290C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3F2F3-9A92-2B1B-EACE-F0465E28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049A2-9E2C-E9B1-ADB6-3A4C75FC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DB215-BFD0-C3E2-AA3D-AD3A7CA7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59642-8775-090D-936B-F4736117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1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A47B9-81D5-DF2D-8ACB-D77095E06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46DF8-FE71-EA06-2F3B-D98E404C6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29807-1D7E-206C-54DB-9E6FDAEC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4D67-A675-CE50-F235-A137B044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08FDF-F108-4B78-F684-DAAA7E24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61C3A-75B4-C1A0-8F9A-4F99DD4D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36529-8F2C-14D0-4101-3A1FBED93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8955D-BC4C-64EC-81FD-CA8C8F7D8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EE91D-5466-1A44-A8E4-72D97312E0A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9834-8AE1-11D4-185B-08FC36634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C8E4B-C333-809F-D0E8-AEB7FD78F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5E915-3686-2548-8242-33711C37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hyperlink" Target="https://github.com/bodduamarnath2004/Edge-ai-traffic-intelligent-system" TargetMode="External"/><Relationship Id="rId5" Type="http://schemas.openxmlformats.org/officeDocument/2006/relationships/image" Target="../media/image1.sv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video" Target="../media/media6.mp4"/><Relationship Id="rId7" Type="http://schemas.openxmlformats.org/officeDocument/2006/relationships/image" Target="../media/image6.png"/><Relationship Id="rId2" Type="http://schemas.microsoft.com/office/2007/relationships/media" Target="../media/media6.mp4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5" Type="http://schemas.openxmlformats.org/officeDocument/2006/relationships/audio" Target="../media/media7.m4a"/><Relationship Id="rId4" Type="http://schemas.microsoft.com/office/2007/relationships/media" Target="../media/media7.m4a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video" Target="../media/media8.mp4"/><Relationship Id="rId7" Type="http://schemas.openxmlformats.org/officeDocument/2006/relationships/notesSlide" Target="../notesSlides/notesSlide2.xml"/><Relationship Id="rId2" Type="http://schemas.microsoft.com/office/2007/relationships/media" Target="../media/media8.mp4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6.xml"/><Relationship Id="rId5" Type="http://schemas.openxmlformats.org/officeDocument/2006/relationships/audio" Target="../media/media9.m4a"/><Relationship Id="rId10" Type="http://schemas.openxmlformats.org/officeDocument/2006/relationships/image" Target="../media/image2.png"/><Relationship Id="rId4" Type="http://schemas.microsoft.com/office/2007/relationships/media" Target="../media/media9.m4a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673" y="3256613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4000" dirty="0">
                <a:solidFill>
                  <a:schemeClr val="tx2"/>
                </a:solidFill>
              </a:rPr>
              <a:t>Edge AI Traffic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673" y="4134312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IN" sz="2000" b="1" dirty="0"/>
              <a:t>CP 330: Edge AI [Jan 26]</a:t>
            </a:r>
            <a:endParaRPr lang="en-IN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1E12D9C1-AC1C-0B77-37C2-13050616F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9651" y="1859078"/>
            <a:ext cx="3821103" cy="3821103"/>
          </a:xfrm>
          <a:prstGeom prst="rect">
            <a:avLst/>
          </a:prstGeom>
          <a:ln>
            <a:noFill/>
          </a:ln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9BDA3BE-2150-8441-5C4E-DF075CACA21E}"/>
              </a:ext>
            </a:extLst>
          </p:cNvPr>
          <p:cNvSpPr txBox="1">
            <a:spLocks/>
          </p:cNvSpPr>
          <p:nvPr/>
        </p:nvSpPr>
        <p:spPr>
          <a:xfrm>
            <a:off x="5798372" y="5152914"/>
            <a:ext cx="6090349" cy="828338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marL="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2"/>
                </a:solidFill>
              </a:rPr>
              <a:t>Team members: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Boddu Amarnath, Rohan Kumar Biswal, Utkarsh Vats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DC089-6F8C-BF51-446C-6D038160C7DC}"/>
              </a:ext>
            </a:extLst>
          </p:cNvPr>
          <p:cNvSpPr txBox="1"/>
          <p:nvPr/>
        </p:nvSpPr>
        <p:spPr>
          <a:xfrm>
            <a:off x="5884433" y="6185647"/>
            <a:ext cx="285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 </a:t>
            </a:r>
            <a:r>
              <a:rPr lang="en-US" dirty="0">
                <a:hlinkClick r:id="rId6"/>
              </a:rPr>
              <a:t>Project Repo</a:t>
            </a:r>
            <a:endParaRPr lang="en-US" dirty="0"/>
          </a:p>
        </p:txBody>
      </p:sp>
      <p:pic>
        <p:nvPicPr>
          <p:cNvPr id="24" name="Audio 23">
            <a:extLst>
              <a:ext uri="{FF2B5EF4-FFF2-40B4-BE49-F238E27FC236}">
                <a16:creationId xmlns:a16="http://schemas.microsoft.com/office/drawing/2014/main" id="{05E558C4-F1E3-1278-4E18-E5C8F00EA3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29"/>
    </mc:Choice>
    <mc:Fallback xmlns="">
      <p:transition spd="slow" advTm="182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D0FDD-5907-206E-CB2B-39FB61B3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9DEE1-794F-9EC9-5747-E6463D1C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Flow Chart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CA6DFB-4907-7D11-C603-AB2ECD69F5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808"/>
          <a:stretch>
            <a:fillRect/>
          </a:stretch>
        </p:blipFill>
        <p:spPr>
          <a:xfrm>
            <a:off x="2172740" y="1675227"/>
            <a:ext cx="7846519" cy="4394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78D0D-19A3-32CC-B700-7FCF92A74624}"/>
              </a:ext>
            </a:extLst>
          </p:cNvPr>
          <p:cNvSpPr txBox="1"/>
          <p:nvPr/>
        </p:nvSpPr>
        <p:spPr>
          <a:xfrm>
            <a:off x="3048000" y="3186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47D7B0F0-9C46-9A1D-F8C1-B02463A5F2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4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08"/>
    </mc:Choice>
    <mc:Fallback xmlns="">
      <p:transition spd="slow" advTm="134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81"/>
            <a:ext cx="12192000" cy="1143000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306" y="1355464"/>
            <a:ext cx="10923494" cy="517442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IMU to Velocity</a:t>
            </a:r>
          </a:p>
          <a:p>
            <a:pPr lvl="0"/>
            <a:r>
              <a:rPr lang="en-US" dirty="0"/>
              <a:t>Object Detection(YOLO) – model optimized through quantization and pruning</a:t>
            </a:r>
          </a:p>
          <a:p>
            <a:pPr lvl="0"/>
            <a:r>
              <a:rPr lang="en-US" dirty="0"/>
              <a:t>Kalman Filtering for Tracking</a:t>
            </a:r>
          </a:p>
          <a:p>
            <a:pPr lvl="0"/>
            <a:r>
              <a:rPr lang="en-US" dirty="0"/>
              <a:t>Data Association (Hungarian Algorithm)</a:t>
            </a:r>
          </a:p>
          <a:p>
            <a:r>
              <a:rPr lang="en-IN" dirty="0"/>
              <a:t>Optical Flow for Ego Motion</a:t>
            </a:r>
          </a:p>
          <a:p>
            <a:r>
              <a:rPr lang="en-IN" dirty="0"/>
              <a:t>Relative Speed Estimation</a:t>
            </a:r>
          </a:p>
          <a:p>
            <a:r>
              <a:rPr lang="en-IN" dirty="0"/>
              <a:t>Congestion Detection</a:t>
            </a:r>
          </a:p>
          <a:p>
            <a:r>
              <a:rPr lang="en-IN" dirty="0"/>
              <a:t>Speed Variance</a:t>
            </a:r>
          </a:p>
          <a:p>
            <a:r>
              <a:rPr lang="en-IN" dirty="0"/>
              <a:t>Risk Score Model</a:t>
            </a:r>
          </a:p>
          <a:p>
            <a:r>
              <a:rPr lang="en-IN" dirty="0"/>
              <a:t>Nicla Audio</a:t>
            </a:r>
            <a:endParaRPr dirty="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CF97CDC2-A30F-880B-4275-4767E66D46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944"/>
    </mc:Choice>
    <mc:Fallback xmlns="">
      <p:transition spd="slow" advTm="2389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D6ACC-415F-498F-8174-5381A57E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BBCCB-AE27-6D7C-9B85-8F2CCB67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Hyper parameters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149F6-4975-ABE3-8A29-91D6FBA7AC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09"/>
          <a:stretch>
            <a:fillRect/>
          </a:stretch>
        </p:blipFill>
        <p:spPr>
          <a:xfrm>
            <a:off x="4382925" y="1675227"/>
            <a:ext cx="3426150" cy="4394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0F79D9-B230-7594-AF2C-9498604BBAAD}"/>
              </a:ext>
            </a:extLst>
          </p:cNvPr>
          <p:cNvSpPr txBox="1"/>
          <p:nvPr/>
        </p:nvSpPr>
        <p:spPr>
          <a:xfrm>
            <a:off x="3048000" y="3186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74269-43F2-50B4-865C-B0AFE05802DF}"/>
              </a:ext>
            </a:extLst>
          </p:cNvPr>
          <p:cNvSpPr txBox="1"/>
          <p:nvPr/>
        </p:nvSpPr>
        <p:spPr>
          <a:xfrm>
            <a:off x="3048000" y="3186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DE8AB0F7-5791-B5C5-9DB7-4947CBBFE9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1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098"/>
    </mc:Choice>
    <mc:Fallback xmlns="">
      <p:transition spd="slow" advTm="730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4C4FB-7C70-1D44-AD85-4EE23DCA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C1B16A-532C-03B9-B845-9AB463F80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3CEF4-46D8-2515-B490-D0786A52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2C626-4EEA-6480-75F0-5BE70CCD57B1}"/>
              </a:ext>
            </a:extLst>
          </p:cNvPr>
          <p:cNvSpPr txBox="1"/>
          <p:nvPr/>
        </p:nvSpPr>
        <p:spPr>
          <a:xfrm>
            <a:off x="3048000" y="3186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79145-29C7-FF53-6DE1-F39D35D9813E}"/>
              </a:ext>
            </a:extLst>
          </p:cNvPr>
          <p:cNvSpPr txBox="1"/>
          <p:nvPr/>
        </p:nvSpPr>
        <p:spPr>
          <a:xfrm>
            <a:off x="3048000" y="31867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C62AE-1501-DA2E-F66B-DA97A323C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838529"/>
            <a:ext cx="7772400" cy="4367719"/>
          </a:xfrm>
          <a:prstGeom prst="rect">
            <a:avLst/>
          </a:prstGeo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C7E6CD25-97E3-1E97-3498-C0009AE3C9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4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22"/>
    </mc:Choice>
    <mc:Fallback xmlns="">
      <p:transition spd="slow" advTm="309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9AB1-3274-9730-2983-E89C2602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RESULTS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finalvideo.mp4">
            <a:hlinkClick r:id="" action="ppaction://media"/>
            <a:extLst>
              <a:ext uri="{FF2B5EF4-FFF2-40B4-BE49-F238E27FC236}">
                <a16:creationId xmlns:a16="http://schemas.microsoft.com/office/drawing/2014/main" id="{7911CAE6-584A-2D22-8E96-DC4548FB410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679100" y="1718258"/>
            <a:ext cx="6683192" cy="4394199"/>
          </a:xfrm>
          <a:prstGeom prst="rect">
            <a:avLst/>
          </a:prstGeom>
        </p:spPr>
      </p:pic>
      <p:pic>
        <p:nvPicPr>
          <p:cNvPr id="5" name="Audio 4">
            <a:extLst>
              <a:ext uri="{FF2B5EF4-FFF2-40B4-BE49-F238E27FC236}">
                <a16:creationId xmlns:a16="http://schemas.microsoft.com/office/drawing/2014/main" id="{8977A3D6-5024-2811-447C-F041DE028940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28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50"/>
    </mc:Choice>
    <mc:Fallback xmlns="">
      <p:transition spd="slow" advTm="422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3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6448" objId="4"/>
        <p14:stopEvt time="40113" objId="4"/>
        <p14:playEvt time="40114" objId="4"/>
        <p14:stopEvt time="42196" objId="4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9AB1-3274-9730-2983-E89C2602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RESULTS</a:t>
            </a: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79647-8D5B-B10F-589A-54EBBB1621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8964"/>
          <a:stretch>
            <a:fillRect/>
          </a:stretch>
        </p:blipFill>
        <p:spPr>
          <a:xfrm>
            <a:off x="1010133" y="1664470"/>
            <a:ext cx="3050172" cy="4394199"/>
          </a:xfrm>
          <a:prstGeom prst="rect">
            <a:avLst/>
          </a:prstGeom>
        </p:spPr>
      </p:pic>
      <p:pic>
        <p:nvPicPr>
          <p:cNvPr id="21" name="25de-9531-469d-bdb9-555a3ca114fa.mp4">
            <a:hlinkClick r:id="" action="ppaction://media"/>
            <a:extLst>
              <a:ext uri="{FF2B5EF4-FFF2-40B4-BE49-F238E27FC236}">
                <a16:creationId xmlns:a16="http://schemas.microsoft.com/office/drawing/2014/main" id="{BEA705CE-6D88-0790-7B7C-4F7245FF3BC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33914" y="1672937"/>
            <a:ext cx="7795566" cy="4394199"/>
          </a:xfrm>
          <a:prstGeom prst="rect">
            <a:avLst/>
          </a:prstGeom>
        </p:spPr>
      </p:pic>
      <p:pic>
        <p:nvPicPr>
          <p:cNvPr id="25" name="Audio 24">
            <a:extLst>
              <a:ext uri="{FF2B5EF4-FFF2-40B4-BE49-F238E27FC236}">
                <a16:creationId xmlns:a16="http://schemas.microsoft.com/office/drawing/2014/main" id="{D1B781B9-0594-F525-8F9A-D200F2A440BA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999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33"/>
    </mc:Choice>
    <mc:Fallback xmlns="">
      <p:transition spd="slow" advTm="42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933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9558" objId="21"/>
        <p14:stopEvt time="27549" objId="21"/>
        <p14:playEvt time="27549" objId="21"/>
        <p14:pauseEvt time="29117" objId="21"/>
        <p14:seekEvt time="36449" objId="21" seek="5937"/>
        <p14:seekEvt time="36450" objId="21" seek="5937"/>
        <p14:seekEvt time="36950" objId="21" seek="5937"/>
        <p14:seekEvt time="36950" objId="21" seek="5937"/>
        <p14:seekEvt time="37199" objId="21" seek="6018"/>
        <p14:seekEvt time="37199" objId="21" seek="6018"/>
        <p14:seekEvt time="37216" objId="21" seek="6018"/>
        <p14:seekEvt time="37216" objId="21" seek="6018"/>
        <p14:seekEvt time="37232" objId="21" seek="6038"/>
        <p14:seekEvt time="37232" objId="21" seek="6038"/>
        <p14:seekEvt time="37249" objId="21" seek="6068"/>
        <p14:seekEvt time="37249" objId="21" seek="6068"/>
        <p14:seekEvt time="38272" objId="21" seek="6129"/>
        <p14:seekEvt time="38272" objId="21" seek="6129"/>
        <p14:resumeEvt time="38566" objId="21"/>
        <p14:stopEvt time="42533" objId="21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DDCEA-286E-AE56-78B6-3F8966BB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B060D1-0397-1D8D-4CB4-928FA8E98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F982C-94D2-3BCB-FCAE-52EB2C58F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643467"/>
            <a:ext cx="11210924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F9DDC-F5CB-8224-6CB9-A903A541C6D5}"/>
              </a:ext>
            </a:extLst>
          </p:cNvPr>
          <p:cNvSpPr txBox="1"/>
          <p:nvPr/>
        </p:nvSpPr>
        <p:spPr>
          <a:xfrm>
            <a:off x="1253265" y="2208974"/>
            <a:ext cx="100960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IN" sz="2400" b="1" dirty="0"/>
              <a:t>Drift</a:t>
            </a:r>
            <a:r>
              <a:rPr lang="en-IN" sz="2400" dirty="0"/>
              <a:t> — any small constant bias in the accelerometer multiplies over time. The 0.95 decay is the countermeasure here, but it also means the system can't track sustained constant-velocity motion perfectly (since at constant velocity, acceleration = 0, and the decay pulls speed toward zero).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IN" sz="2400" b="1" dirty="0"/>
              <a:t>No absolute reference</a:t>
            </a:r>
            <a:r>
              <a:rPr lang="en-IN" sz="2400" dirty="0"/>
              <a:t> — there's no GPS or wheel odometer to correct the estimate. The velocity is entirely relative and resets on reconnection. 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IN" sz="2400" b="1" dirty="0"/>
              <a:t>Gravity contamination</a:t>
            </a:r>
            <a:r>
              <a:rPr lang="en-IN" sz="2400" dirty="0"/>
              <a:t> — if the device is tilted, gravity's component leaks into </a:t>
            </a:r>
            <a:r>
              <a:rPr lang="en-IN" sz="2400" dirty="0" err="1"/>
              <a:t>ax</a:t>
            </a:r>
            <a:r>
              <a:rPr lang="en-IN" sz="2400" dirty="0"/>
              <a:t>/ay. The dead zone partially masks this but doesn't fully eliminate it.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r>
              <a:rPr lang="en-IN" sz="2400" b="1" dirty="0"/>
              <a:t>Connectivity issues</a:t>
            </a:r>
            <a:endParaRPr lang="en-US" sz="2400" b="1" dirty="0"/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7B81C7EB-4C47-6F26-7050-7BA4FE63F5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8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81"/>
    </mc:Choice>
    <mc:Fallback xmlns="">
      <p:transition spd="slow" advTm="43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194</Words>
  <Application>Microsoft Macintosh PowerPoint</Application>
  <PresentationFormat>Widescreen</PresentationFormat>
  <Paragraphs>27</Paragraphs>
  <Slides>8</Slides>
  <Notes>2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Edge AI Traffic Intelligence System</vt:lpstr>
      <vt:lpstr>Flow Chart</vt:lpstr>
      <vt:lpstr>Methods used</vt:lpstr>
      <vt:lpstr>Hyper parameters</vt:lpstr>
      <vt:lpstr>Demo model</vt:lpstr>
      <vt:lpstr>RESULTS</vt:lpstr>
      <vt:lpstr>RESULTS</vt:lpstr>
      <vt:lpstr>CONS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Boddu Amarnath</dc:creator>
  <cp:keywords/>
  <dc:description/>
  <cp:lastModifiedBy>Boddu Amarnath</cp:lastModifiedBy>
  <cp:revision>4</cp:revision>
  <dcterms:created xsi:type="dcterms:W3CDTF">2026-05-02T06:47:56Z</dcterms:created>
  <dcterms:modified xsi:type="dcterms:W3CDTF">2026-05-02T13:35:14Z</dcterms:modified>
  <cp:category/>
</cp:coreProperties>
</file>